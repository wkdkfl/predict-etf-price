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6" r:id="rId18"/>
    <p:sldId id="265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연구의 두 가지 핵심 과제를 소개합니다. 변동성 예측과 방향성 예측이며, 미국과 영국 두 시장을 동시에 분석합니다.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yfinance 선택 이유 세 가지: 재현 가능성, 조정 종가, 자산 클래스 다양성. 각 심볼은 경제적 의미를 기반으로 선택했습니다.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시장 마감 요약 헤드라인은 당일 가격을 직접 반영하므로, 그대로 학습에 사용하면 미래 정보를 과거에서 본 것과 같은 데이터 누출이 발생합니다.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FinBERT는 금융 뉴스 전용 BERT 파인튜닝 모델로 로컬에서 실행 가능합니다. 단일 forward pass로 분류 확률과 CLS 임베딩을 동시에 추출해 효율적입니다.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레버리지 효과: 음수익률이 변동성을 비대칭적으로 확대하는 현상. sent_x_vix: 고VIX 레짐에서 부정적 뉴스 영향이 증폭되는 비선형 효과를 단순 곱으로 포착.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표형 데이터에서 GBDT가 딥러닝보다 우수하다는 것은 XGBoost, LightGBM 논문과 캐글 경진대회에서 반복 입증되었습니다.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스태킹의 핵심은 서로 다른 알고리즘이 만드는 독립적인 오차 패턴을 결합하는 것입니다. OOF(Out-of-Fold) 예측으로 메타모델 학습 시 데이터 누출을 방지합니다.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금융 시계열에서 가장 중요한 원칙은 미래 정보가 과거 학습에 섞이지 않는 것입니다. PCA와 StandardScaler fit도 반드시 Train 데이터만으로 수행합니다.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 변환 타깃을 사용하면 코로나 같은 극단적 변동성 날의 이상치가 학습을 지배하지 않습니다. 최종 보고는 원 스케일로 역변환해서도 제시합니다.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연구는 뉴스 감성의 예측력을 엄격한 시계열 검증 프레임 안에서 정량화한 것이 핵심 기여입니다.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시 강조: GARCH R2가 음수인 것은 GARCH가 잘못된 모델이 아니라 단기 체제 전환을 캡처 못하는 구조적 한계. Correlation은 0.25-0.30으로 방향성은 포착하나 수준 예측이 틀림. 심사위원이 GARCH 안 썼냐 물을 경우: 썼고, R2=-0.21 나왔으며, 그래서 ML을 선택했다고 답변.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E8B830"/>
                </a:solidFill>
              </a:rPr>
              <a:t>뉴스 감성 분석과 기계학습을 활용한
ETF 변동성·방향성 예측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2834640"/>
            <a:ext cx="11430000" cy="1905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CDDEE"/>
                </a:solidFill>
              </a:rPr>
              <a:t>논문 발표 |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▸ 대상 ETF: US (QQQ, SOXX) / UK (ISF.L · FTSE100)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▸ 데이터 기간: 2013-12-01 ~ 2024-12-31 (약 11년)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▸ 예측 과제 1 — 회귀: 다음 날 실현 변동성 |log(P_{t+1}/P_t)|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▸ 예측 과제 2 — 분류: 다음 날 수익률 방향 (상승/하락)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B830"/>
                </a:solidFill>
              </a:rPr>
              <a:t>데이터 수집 — 시장 데이터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DEE"/>
                </a:solidFill>
              </a:rPr>
              <a:t>파일: _download_extra_features.py  |  출처: Yahoo Finance (yfinance)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왜 yfinance?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• Bloomberg 대비 무료·API 키 불필요 → 재현 가능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• 조정 종가(adjusted close) 자동 제공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• ETF·채권·지수·FX 단일 API로 수집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US 21개 / UK 22개 심볼 수집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371600"/>
            <a:ext cx="19050" cy="4846320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카테고리별 심볼 선택 이유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SPY/IWM  → 시장 리스크 레짐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TLT/HYG  → 금리·크레딧 스프레드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^VIX9D   → 단기 변동성 레짐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^N225    → 아시아 야간 신호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ETH-USD  → Risk-on/off 대리변수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B830"/>
                </a:solidFill>
              </a:rPr>
              <a:t>데이터 수집 — 뉴스 헤드라인 &amp; 데이터 누출 방지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DEE"/>
                </a:solidFill>
              </a:rPr>
              <a:t>파일: *_headline_crawling_code.ipynb  |  US 23,000개 · UK 36,772개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수집 규모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• US_financial_news.csv : 23,000 헤드라인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• UK_financial_news.csv : 36,772 헤드라인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⚠ 핵심 전처리: 데이터 누출 방지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→ 'market close summary' 헤드라인 제거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371600"/>
            <a:ext cx="19050" cy="4846320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필터 대상 패턴 예시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• 'closed at'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• 'stocks close higher'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• 'ended the day'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• 'after the bell'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이유: 당일 종가 반영 → 미래 정보 누출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B830"/>
                </a:solidFill>
              </a:rPr>
              <a:t>FinBERT 감성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DEE"/>
                </a:solidFill>
              </a:rPr>
              <a:t>파일: _build_multi_headline_features.py  |  ProsusAI/finbert (금융 뉴스 47,000개 파인튜닝)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왜 FinBERT인가?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TF-IDF    → 문맥 무시, 단어 빈도만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VADER     → 소셜미디어 훈련, 금융 어휘 부재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GPT-4 API → 재현 불가, 비용, 프라이버시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RoBERTa   → 금융 도메인 미파인튜닝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✅ FinBERT → 로컬·무료·완전 재현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371600"/>
            <a:ext cx="19050" cy="4846320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출력 (단일 forward pass)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• [pos, neg, neu] 확률 3개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• [CLS] 768-dim 임베딩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일별 집계 → 12개 감성 피처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sent_score_mean, sent_score_ma5/20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sent_surprise, sent_vol_5d ...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임베딩: PCA 768→50 차원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B830"/>
                </a:solidFill>
              </a:rPr>
              <a:t>특성 공학 (Feature Engineering)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DEE"/>
                </a:solidFill>
              </a:rPr>
              <a:t>파일: _run_enhanced_models_v3.py  |  총 3개 피처 그룹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① AR / 기술 피처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ret_lag1~5, absret_lag1~3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rolling_std_5/20/22  (HAR 일·주·월)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rsi_14, sign_run, dow (요일 더미)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② 신규 v3 피처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leverage_5d/20d  (음수익률 비대칭)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vol_ratio_5_20   (레짐 지표)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absret_surprise  (변동성 이상치)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371600"/>
            <a:ext cx="19050" cy="4846320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③ 감성 피처 (16개)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news_volume, sent_pos/neg_mean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sent_score_ma5/20, sent_surprise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④ 상호작용 피처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sent_x_vix  (감성×VIX)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sent_x_vol  (감성×단기변동성)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⑤ FinBERT 임베딩 PCA 50 PC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→ PCA fit은 Train 데이터만 사용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B830"/>
                </a:solidFill>
              </a:rPr>
              <a:t>모델 선택 — 왜 그래디언트 부스팅인가?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DEE"/>
                </a:solidFill>
              </a:rPr>
              <a:t>파일: _run_enhanced_models_v3.py  |  XGBoost · LightGBM · RandomForest · Ridge · Stacking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딥러닝(LSTM/Transformer) 배제 이유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• 데이터 2,700행 → 과적합 위험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• 수백만 파라미터 vs 수천 샘플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• AR 피처로 순서 정보 수동 주입 가능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• 해석 가능성(Feature Importance) 낮음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참조: Chen &amp; Guestrin 2016 (XGBoost)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     Ke et al. 2017 (LightGBM)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371600"/>
            <a:ext cx="19050" cy="4846320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모델별 역할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XGBoost   → Level-wise, 강한 기저 모형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LightGBM  → Leaf-wise, 앙상블 다양성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RF        → 배깅 기반, 분산 감소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Ridge/Logit → 선형 기준선(baseline)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Optuna TPE, 100 trials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Grid Search의 조합폭발(5⁸≈39만) 대비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베이지안 탐색으로 효율적 수렴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B830"/>
                </a:solidFill>
              </a:rPr>
              <a:t>Stacking Ensemble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DEE"/>
                </a:solidFill>
              </a:rPr>
              <a:t>회귀: Base(XGB+LGBM+RF) → Ridge | 분류: Base(XGB+LGBM+RF) → Logistic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47120" cy="2926080"/>
          </a:xfrm>
          <a:prstGeom prst="rect">
            <a:avLst/>
          </a:prstGeom>
          <a:solidFill>
            <a:srgbClr val="0F3D6E"/>
          </a:solidFill>
          <a:ln w="12700">
            <a:solidFill>
              <a:srgbClr val="E8B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 Train Set                 Validation Set              Test Set
──────────────────────────────────────────────────────────────────
  XGBoost  ──────────────────────▶  OOF pred ─────▶ pred_xgb
  LightGBM ──────────────────────▶  OOF pred ─────▶ pred_lgbm
  RandomForest ──────────────────▶  OOF pred ─────▶ pred_rf
                                        │
                               Ridge / Logistic (Meta)
                                        │
                                  Final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CCDDEE"/>
                </a:solidFill>
              </a:rPr>
              <a:t>▸ 메타모델을 Ridge/Logistic으로 선택한 이유: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CDDEE"/>
                </a:solidFill>
              </a:rPr>
              <a:t>▸   • Val 세트 크기 ~400행 → 복잡한 메타모델은 과적합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CDDEE"/>
                </a:solidFill>
              </a:rPr>
              <a:t>▸   • Ridge L2 정규화가 base 예측 가중치를 안정적으로 학습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CDDEE"/>
                </a:solidFill>
              </a:rPr>
              <a:t>▸   • XGB(level) vs LGBM(leaf) 오차 상관 낮음 → 앙상블 효과 극대화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B830"/>
                </a:solidFill>
              </a:rPr>
              <a:t>검증 설계 — 시간 누출 방지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DEE"/>
                </a:solidFill>
              </a:rPr>
              <a:t>시간순 3분할 + Walk-Forward 5-fold + Block Bootstrap + Diebold-Mariano 검정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① 시간순 Hold-out 분할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[70% Train][15% Val][15% Test]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※ k-fold 교차검증 절대 사용 불가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  (미래→과거 정보 누출)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② Walk-Forward (5-fold Expanding)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Fold1: [Train 40%][Test 12%]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Fold2: [Train 52%][Test 12%]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→ 여러 시장 레짐에서 일관성 검증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371600"/>
            <a:ext cx="19050" cy="4846320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③ Block Bootstrap CI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5,000 samples, block=10일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이유: 변동성 자기상관 ~2주 지속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iid Bootstrap은 시계열에 부적절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④ Diebold-Mariano 검정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H₀: 두 모델 예측력 동일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p &lt; 0.05 → 최상위 모델 유의하게 우수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→ 과도한 주장 강도 조절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B830"/>
                </a:solidFill>
              </a:rPr>
              <a:t>평가 지표 선택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DEE"/>
                </a:solidFill>
              </a:rPr>
              <a:t>회귀(변동성 예측) · 분류(방향성 예측)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변동성 예측 (회귀)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타깃: log(|next_ret|)  ← log 변환 이유: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원 변동성은 오른쪽 꼬리 두꺼움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→ MSE가 이상치(코로나 등)에 지배됨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→ log 변환 후 분포 정규화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R² (log/원 스케일), RMSE, Correlation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371600"/>
            <a:ext cx="19050" cy="4846320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방향성 예측 (분류)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주 지표: AUC-ROC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이유: 클래스 불균형에 강건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      임계값 독립적 평가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      다수클래스 예측 전략 차별화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보조: Accuracy, F1, Brier Score,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       Log Loss (확률 보정 품질)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B830"/>
                </a:solidFill>
              </a:rPr>
              <a:t>연구 기여 및 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DEE"/>
                </a:solidFill>
              </a:rPr>
              <a:t>데이터 수집 → FinBERT 감성 → GBDT 앙상블 → 엄격한 시계열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① FinBERT 감성 피처의 예측 기여도를 절제 연구(ablation)로 정량화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  → 순수 기술적 모델 대비 개선 효과 측정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② Walk-forward + Block Bootstrap + DM 검정으로 통계적 신뢰성 확보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  → 단순 hold-out의 특정 레짐 편향 극복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③ US(QQQ/SOXX)·UK(ISF.L) 두 시장 동시 검증 → 일반성 확인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  → 시장 구조 차이에 따른 피처 기여도 비교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④ 도메인 지식 피처(leverage effect, sent×VIX, HAR 성분)가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  Feature Importance 상위에 위치함을 확인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704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B830"/>
                </a:solidFill>
              </a:rPr>
              <a:t>전통 계량 모형 vs ML 비교 (GARCH / HAR-RV Baseline)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B830"/>
                </a:solidFill>
              </a:rPr>
              <a:t>모델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188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8B830"/>
                </a:solidFill>
              </a:rPr>
              <a:t>US R²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188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8B830"/>
                </a:solidFill>
              </a:rPr>
              <a:t>UK R²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B830"/>
                </a:solidFill>
              </a:rPr>
              <a:t>비고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74C3C"/>
                </a:solidFill>
              </a:rPr>
              <a:t>GARCH(1,1)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691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74C3C"/>
                </a:solidFill>
              </a:rPr>
              <a:t>-0.213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691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74C3C"/>
                </a:solidFill>
              </a:rPr>
              <a:t>-0.329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1691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EE"/>
                </a:solidFill>
              </a:rPr>
              <a:t>Mean 예측 이하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74C3C"/>
                </a:solidFill>
              </a:rPr>
              <a:t>GJR-GARCH(1,1,1)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74C3C"/>
                </a:solidFill>
              </a:rPr>
              <a:t>-0.144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74C3C"/>
                </a:solidFill>
              </a:rPr>
              <a:t>-0.310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194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EE"/>
                </a:solidFill>
              </a:rPr>
              <a:t>음(-)의 R²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697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</a:rPr>
              <a:t>HAR-RV (Corsi 2009)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697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DEE"/>
                </a:solidFill>
              </a:rPr>
              <a:t>+0.034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2697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DEE"/>
                </a:solidFill>
              </a:rPr>
              <a:t>-0.052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2697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EE"/>
                </a:solidFill>
              </a:rPr>
              <a:t>가장 우수한 전통 모형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</a:rPr>
              <a:t>Ridge (ML baseline)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DEE"/>
                </a:solidFill>
              </a:rPr>
              <a:t>+0.190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DEE"/>
                </a:solidFill>
              </a:rPr>
              <a:t>+0.220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3200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EE"/>
                </a:solidFill>
              </a:rPr>
              <a:t>선형 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703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ECC71"/>
                </a:solidFill>
              </a:rPr>
              <a:t>XGBoost (Full)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3703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CC71"/>
                </a:solidFill>
              </a:rPr>
              <a:t>+0.740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703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CC71"/>
                </a:solidFill>
              </a:rPr>
              <a:t>+0.880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3703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EE"/>
                </a:solidFill>
              </a:rPr>
              <a:t>ML 주요 모형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206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ECC71"/>
                </a:solidFill>
              </a:rPr>
              <a:t>RandomForest (Full)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206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CC71"/>
                </a:solidFill>
              </a:rPr>
              <a:t>+0.830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4206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CC71"/>
                </a:solidFill>
              </a:rPr>
              <a:t>+0.932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4206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EE"/>
                </a:solidFill>
              </a:rPr>
              <a:t>최고 성능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8920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B830"/>
                </a:solidFill>
              </a:rPr>
              <a:t>핵심 메시지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257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</a:rPr>
              <a:t>GARCH·HAR-RV는 장기 조건부 분산 평균회귀를 포착하지만 일별 체제 전환에 취약 (Hansen &amp; Lunde, 2005). ML은 HAR 성분 + 교차 시장 지표 + 뉴스 감성 등 다차원 피처로 전통 모형 대비 23-27배 높은 R²를 달성.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